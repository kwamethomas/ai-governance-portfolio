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Governance for Residential Real Estate (NC)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Kwame Thomas | Responsible AI &amp; Governance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AI Governance in Real Estate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AI increasingly influences pricing, eligibility, and access to housing</a:t>
            </a:r>
          </a:p>
          <a:p>
            <a:pPr/>
            <a:r>
              <a:t>Decisions carry legal, financial, and reputational risk</a:t>
            </a:r>
          </a:p>
          <a:p>
            <a:pPr/>
            <a:r>
              <a:t>Governance is essential to maintain fairness, compliance, and trust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In-Scope AI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Automated valuation models (AVMs)</a:t>
            </a:r>
          </a:p>
          <a:p>
            <a:pPr/>
            <a:r>
              <a:t>Buyer and seller risk scoring</a:t>
            </a:r>
          </a:p>
          <a:p>
            <a:pPr/>
            <a:r>
              <a:t>Fraud and anomaly detection</a:t>
            </a:r>
          </a:p>
          <a:p>
            <a:pPr/>
            <a:r>
              <a:t>Contract review and document analysis copilots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AI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Discriminatory pricing or exclusionary outcomes</a:t>
            </a:r>
          </a:p>
          <a:p>
            <a:pPr/>
            <a:r>
              <a:t>Opaque or unexplainable automated recommendations</a:t>
            </a:r>
          </a:p>
          <a:p>
            <a:pPr/>
            <a:r>
              <a:t>Lack of consumer appeal or override mechanisms</a:t>
            </a:r>
          </a:p>
          <a:p>
            <a:pPr/>
            <a:r>
              <a:t>Model drift and vendor opacity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Governance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Bias and fairness testing prior to deployment</a:t>
            </a:r>
          </a:p>
          <a:p>
            <a:pPr/>
            <a:r>
              <a:t>Human-in-the-loop decision authority</a:t>
            </a:r>
          </a:p>
          <a:p>
            <a:pPr/>
            <a:r>
              <a:t>Explainability and disclosure standards</a:t>
            </a:r>
          </a:p>
          <a:p>
            <a:pPr/>
            <a:r>
              <a:t>Continuous monitoring across the AI lifecycle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Fair Housing &amp; Compliance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Alignment with Fair Housing Act principles</a:t>
            </a:r>
          </a:p>
          <a:p>
            <a:pPr/>
            <a:r>
              <a:t>Consumer protection and transparency expectations</a:t>
            </a:r>
          </a:p>
          <a:p>
            <a:pPr/>
            <a:r>
              <a:t>Mapped to the NIST AI Risk Management Framework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Human Accountability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AI supports recommendations—not final decisions</a:t>
            </a:r>
          </a:p>
          <a:p>
            <a:pPr/>
            <a:r>
              <a:t>Humans retain override and appeals authority</a:t>
            </a:r>
          </a:p>
          <a:p>
            <a:pPr/>
            <a:r>
              <a:t>Clear ownership of AI-driven outcomes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&amp; Trust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Reduced regulatory and legal exposure</a:t>
            </a:r>
          </a:p>
          <a:p>
            <a:pPr/>
            <a:r>
              <a:t>Defensible AI-assisted decision-making</a:t>
            </a:r>
          </a:p>
          <a:p>
            <a:pPr/>
            <a:r>
              <a:t>Improved buyer and seller confidence</a:t>
            </a:r>
          </a:p>
          <a:p>
            <a:pPr/>
            <a:r>
              <a:t>Scalable governance model across financial services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Risk Heatmap (Executive 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High Impact / High Likelihood: Pricing bias, eligibility exclusion, fair housing exposure</a:t>
            </a:r>
          </a:p>
          <a:p>
            <a:pPr/>
            <a:r>
              <a:t>High Impact / Medium Likelihood: Opaque AVM logic, lack of consumer appeal mechanisms</a:t>
            </a:r>
          </a:p>
          <a:p>
            <a:pPr/>
            <a:r>
              <a:t>Medium Impact / High Likelihood: Model drift, vendor opacity</a:t>
            </a:r>
          </a:p>
          <a:p>
            <a:pPr/>
            <a:r>
              <a:t>Medium Impact / Medium Likelihood: Data quality and explainability gaps</a:t>
            </a:r>
          </a:p>
          <a:p>
            <a:pPr/>
            <a:r>
              <a:t>Low Impact / Low Likelihood: Non-material automation errors (monitored)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90-Day AI Governance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Days 1–30: Inventory AI systems, assign owners, complete risk and bias assessments</a:t>
            </a:r>
          </a:p>
          <a:p>
            <a:pPr/>
            <a:r>
              <a:t>Days 31–60: Implement human-in-the-loop controls, explainability standards, and disclosures</a:t>
            </a:r>
          </a:p>
          <a:p>
            <a:pPr/>
            <a:r>
              <a:t>Days 61–90: Stand up monitoring, audit logs, appeals process, and executive reporting</a:t>
            </a:r>
          </a:p>
          <a:p>
            <a:pPr/>
            <a:r>
              <a:t>Result: Audit-ready, defensible, and trusted AI-enabled real estate operations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AI Risk Heatmap (Impact × Likelihood)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5029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Likelihood 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2286000"/>
            <a:ext cx="731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Impact ↑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1188720"/>
            <a:ext cx="2743200" cy="1828800"/>
          </a:xfrm>
          <a:prstGeom prst="rect">
            <a:avLst/>
          </a:prstGeom>
          <a:noFill/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LOW Impact</a:t>
            </a:r>
          </a:p>
          <a:p>
            <a:r>
              <a:t>LOW Likelihood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188720"/>
            <a:ext cx="2743200" cy="1828800"/>
          </a:xfrm>
          <a:prstGeom prst="rect">
            <a:avLst/>
          </a:prstGeom>
          <a:noFill/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HIGH Impact</a:t>
            </a:r>
          </a:p>
          <a:p>
            <a:r>
              <a:t>LOW Likelihood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3017520"/>
            <a:ext cx="2743200" cy="1828800"/>
          </a:xfrm>
          <a:prstGeom prst="rect">
            <a:avLst/>
          </a:prstGeom>
          <a:noFill/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LOW Impact</a:t>
            </a:r>
          </a:p>
          <a:p>
            <a:r>
              <a:t>HIGH Likelihood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3017520"/>
            <a:ext cx="2743200" cy="1828800"/>
          </a:xfrm>
          <a:prstGeom prst="rect">
            <a:avLst/>
          </a:prstGeom>
          <a:noFill/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HIGH Impact</a:t>
            </a:r>
          </a:p>
          <a:p>
            <a:r>
              <a:t>HIGH Likelihood</a:t>
            </a:r>
          </a:p>
          <a:p>
            <a:r>
              <a:t>• Pricing Bias</a:t>
            </a:r>
          </a:p>
          <a:p>
            <a:r>
              <a:t>• Eligibility Exclusion</a:t>
            </a:r>
          </a:p>
          <a:p>
            <a:r>
              <a:t>• Fair Housing Risk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90-Day AI Governance Plan (Reusable Template)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24688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/>
            </a:pPr>
            <a:r>
              <a:t>Days 1–30</a:t>
            </a:r>
          </a:p>
          <a:p>
            <a:r>
              <a:t>DISCOVER &amp; ASSESS</a:t>
            </a:r>
          </a:p>
          <a:p>
            <a:pPr lvl="1">
              <a:defRPr sz="1200"/>
            </a:pPr>
            <a:r>
              <a:t>Inventory AI systems &amp; use cases</a:t>
            </a:r>
          </a:p>
          <a:p>
            <a:pPr lvl="1">
              <a:defRPr sz="1200"/>
            </a:pPr>
            <a:r>
              <a:t>Assign executive &amp; operational owners</a:t>
            </a:r>
          </a:p>
          <a:p>
            <a:pPr lvl="1">
              <a:defRPr sz="1200"/>
            </a:pPr>
            <a:r>
              <a:t>Perform initial risk &amp; bias assessments</a:t>
            </a:r>
          </a:p>
          <a:p>
            <a:pPr lvl="1">
              <a:defRPr sz="1200"/>
            </a:pPr>
            <a:r>
              <a:t>Confirm regulatory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188720"/>
            <a:ext cx="24688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/>
            </a:pPr>
            <a:r>
              <a:t>Days 31–60</a:t>
            </a:r>
          </a:p>
          <a:p>
            <a:r>
              <a:t>DESIGN &amp; CONTROL</a:t>
            </a:r>
          </a:p>
          <a:p>
            <a:pPr lvl="1">
              <a:defRPr sz="1200"/>
            </a:pPr>
            <a:r>
              <a:t>Define human-in-the-loop controls</a:t>
            </a:r>
          </a:p>
          <a:p>
            <a:pPr lvl="1">
              <a:defRPr sz="1200"/>
            </a:pPr>
            <a:r>
              <a:t>Set explainability &amp; transparency standards</a:t>
            </a:r>
          </a:p>
          <a:p>
            <a:pPr lvl="1">
              <a:defRPr sz="1200"/>
            </a:pPr>
            <a:r>
              <a:t>Implement bias mitigation actions</a:t>
            </a:r>
          </a:p>
          <a:p>
            <a:pPr lvl="1">
              <a:defRPr sz="1200"/>
            </a:pPr>
            <a:r>
              <a:t>Approve governance policies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188720"/>
            <a:ext cx="24688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/>
            </a:pPr>
            <a:r>
              <a:t>Days 61–90</a:t>
            </a:r>
          </a:p>
          <a:p>
            <a:r>
              <a:t>OPERATE &amp; MONITOR</a:t>
            </a:r>
          </a:p>
          <a:p>
            <a:pPr lvl="1">
              <a:defRPr sz="1200"/>
            </a:pPr>
            <a:r>
              <a:t>Deploy monitoring &amp; audit logs</a:t>
            </a:r>
          </a:p>
          <a:p>
            <a:pPr lvl="1">
              <a:defRPr sz="1200"/>
            </a:pPr>
            <a:r>
              <a:t>Establish appeal &amp; escalation paths</a:t>
            </a:r>
          </a:p>
          <a:p>
            <a:pPr lvl="1">
              <a:defRPr sz="1200"/>
            </a:pPr>
            <a:r>
              <a:t>Produce executive risk reporting</a:t>
            </a:r>
          </a:p>
          <a:p>
            <a:pPr lvl="1">
              <a:defRPr sz="1200"/>
            </a:pPr>
            <a:r>
              <a:t>Prepare audit-ready 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Applicable across education, real estate, regulated retail, and public-sector AI deployments</a:t>
            </a:r>
          </a:p>
          <a:p>
            <a:r>
              <a:t>Kwame Thomas | Responsible AI &amp;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